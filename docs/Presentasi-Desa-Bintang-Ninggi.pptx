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rancangan sistem Website Desa Bintang Ninggi I untuk didiskusikan dengan pihak desa sebelum konten dibangun.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manfaat inti: layanan surat online, transparansi keuangan, dan pengaduan yang bisa dilacak.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besar: 23 section, 78 layar, 4 peran, 14 jenis surat. Semua dari registry sections.ts.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1 (disorot) adalah fondasi yang langsung dipakai warga: profil, pemerintahan, layanan surat, kependudukan, dan dua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peran menumpuk: tiap peran mewarisi hak peran di bawahnya. Kepala Desa berperan dalam alur surat, bukan sebagai peran akses terpisah.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Alur aktivasi menegaskan bahwa keamanan dibangun sejak pintu masuk: perangkat mengaktifkan, warga menetapkan PIN.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tidak boleh melompat sembarangan — itulah yang membuat riwayat pengajuan bisa dipertanggungjawabkan.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Tautan QR bisa dibuka siapa saja yang memegang lembar suratnya, jadi halaman verifikasi sengaja tidak menampilkan data pribadi. Hash memastikan isi PDF tidak berubah.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Foto + titik GPS membuat laporan mudah diverifikasi. Anonimitas hanya di tampilan publik.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Perubahan desain penting: dari dokumen asli "cek pakai NIK" menjadi "ambil dari sesi login" untuk mencegah enumerasi NIK.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log menempel di endpoint baca detail, bukan hanya di endpoint ubah.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Enam aturan keras yang membentuk postur keamanan dan kepatuhan sistem.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Express adalah satu-satunya pintu ke data; React tidak pernah menyentuh MySQL langsung.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Menegaskan kredibilitas: ini aplikasi yang benar-benar berjalan, bukan mockup statis.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Lima titik keputusan yang menunggu masukan pihak desa; beberapa bisa memengaruhi jadwal fase tertentu.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1.png"/><Relationship Id="rId6" Type="http://schemas.openxmlformats.org/officeDocument/2006/relationships/image" Target="../media/image-17-1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5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4114800" cy="41148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315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731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DESA BINTANG NINGGI I  ·  KEC. TEWEH SELATAN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Desa</a:t>
            </a:r>
            <a:endParaRPr lang="en-US" sz="5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Bintang Ninggi I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Rancangan sistem pelayanan desa digital — dari urus surat sampai transparansi anggaran.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257800"/>
            <a:ext cx="21488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257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</a:t>
            </a:r>
            <a:pPr indent="0" marL="0">
              <a:buNone/>
            </a:pPr>
            <a:r>
              <a:rPr lang="en-US" sz="120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publik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154680" y="5257800"/>
            <a:ext cx="21488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5257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 </a:t>
            </a:r>
            <a:pPr indent="0" marL="0">
              <a:buNone/>
            </a:pPr>
            <a:r>
              <a:rPr lang="en-US" sz="120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layar aplikasi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0" y="5257800"/>
            <a:ext cx="21488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5257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20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rancangan · v0.1 · 6 Agustus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UNTUK WARGA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janji utama untuk warga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6432" cy="39319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68680" cy="86868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6" name="Image 0" descr="icons/f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238338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00400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Urus surat dari rumah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931920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Warga login lalu mengajukan surat tanpa datang ke kantor. Berkas terbit dengan QR verifikasi dan tanda tangan.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25112" y="1783080"/>
            <a:ext cx="3456432" cy="39319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2148840"/>
            <a:ext cx="868680" cy="86868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11" name="Image 1" descr="icons/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696" y="2383384"/>
            <a:ext cx="399593" cy="3995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3200400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Anggaran yang terbuka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45152" y="3931920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dan grafik penggunaan dana desa per tahun bisa dilihat siapa saja, tanpa perlu login.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01584" y="1783080"/>
            <a:ext cx="3456432" cy="39319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1624" y="2148840"/>
            <a:ext cx="868680" cy="86868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16" name="Image 2" descr="icons/mess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168" y="2383384"/>
            <a:ext cx="399593" cy="3995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21624" y="3200400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Suara warga terpantau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21624" y="3931920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Laporkan masalah dengan foto dan titik GPS, lalu pantau tindak lanjutnya sampai selesai.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Desa Bintang Ninggi 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saja yang dibangun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12848"/>
            <a:ext cx="731520" cy="731520"/>
          </a:xfrm>
          <a:prstGeom prst="ellipse">
            <a:avLst/>
          </a:prstGeom>
          <a:solidFill>
            <a:srgbClr val="E7F1EB"/>
          </a:solidFill>
          <a:ln/>
        </p:spPr>
      </p:sp>
      <p:pic>
        <p:nvPicPr>
          <p:cNvPr id="6" name="Image 0" descr="icons/layers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410358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publik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64992" y="192024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9312" y="2212848"/>
            <a:ext cx="731520" cy="731520"/>
          </a:xfrm>
          <a:prstGeom prst="ellipse">
            <a:avLst/>
          </a:prstGeom>
          <a:solidFill>
            <a:srgbClr val="E7F1EB"/>
          </a:solidFill>
          <a:ln/>
        </p:spPr>
      </p:sp>
      <p:pic>
        <p:nvPicPr>
          <p:cNvPr id="11" name="Image 1" descr="icons/monitor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822" y="2410358"/>
            <a:ext cx="336499" cy="3364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97180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3639312" y="37490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layar aplikasi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81344" y="192024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55664" y="2212848"/>
            <a:ext cx="731520" cy="731520"/>
          </a:xfrm>
          <a:prstGeom prst="ellipse">
            <a:avLst/>
          </a:prstGeom>
          <a:solidFill>
            <a:srgbClr val="E7F1EB"/>
          </a:solidFill>
          <a:ln/>
        </p:spPr>
      </p:sp>
      <p:pic>
        <p:nvPicPr>
          <p:cNvPr id="16" name="Image 2" descr="icons/users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174" y="2410358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944" y="297180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8" name="Text 13"/>
          <p:cNvSpPr/>
          <p:nvPr/>
        </p:nvSpPr>
        <p:spPr>
          <a:xfrm>
            <a:off x="6455664" y="37490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pengguna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997696" y="192024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72016" y="2212848"/>
            <a:ext cx="731520" cy="731520"/>
          </a:xfrm>
          <a:prstGeom prst="ellipse">
            <a:avLst/>
          </a:prstGeom>
          <a:solidFill>
            <a:srgbClr val="E7F1EB"/>
          </a:solidFill>
          <a:ln/>
        </p:spPr>
      </p:sp>
      <p:pic>
        <p:nvPicPr>
          <p:cNvPr id="21" name="Image 3" descr="icons/file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9526" y="2410358"/>
            <a:ext cx="336499" cy="33649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6296" y="297180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400" dirty="0"/>
          </a:p>
        </p:txBody>
      </p:sp>
      <p:sp>
        <p:nvSpPr>
          <p:cNvPr id="23" name="Text 17"/>
          <p:cNvSpPr/>
          <p:nvPr/>
        </p:nvSpPr>
        <p:spPr>
          <a:xfrm>
            <a:off x="9272016" y="37490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surat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457200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68680" y="4864608"/>
            <a:ext cx="658368" cy="658368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26" name="Image 4" descr="icons/fla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439" y="5042367"/>
            <a:ext cx="302849" cy="3028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45720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Dikerjakan bertahap dalam 4 fase.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membuat website langsung berguna bagi warga; fase berikutnya menambah kedalaman. Seluruh struktur bersumber dari satu file registry, jadi rute, menu, dan dokumen selalu selaras.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Desa Bintang Ninggi I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Dibangun bertahap: Fase 1 sampai 4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15184" cy="4160520"/>
          </a:xfrm>
          <a:prstGeom prst="roundRect">
            <a:avLst>
              <a:gd name="adj" fmla="val 3147"/>
            </a:avLst>
          </a:prstGeom>
          <a:solidFill>
            <a:srgbClr val="18543A"/>
          </a:solidFill>
          <a:ln w="12700">
            <a:solidFill>
              <a:srgbClr val="18543A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0391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31343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04672" y="2862072"/>
            <a:ext cx="2103120" cy="0"/>
          </a:xfrm>
          <a:prstGeom prst="line">
            <a:avLst/>
          </a:prstGeom>
          <a:noFill/>
          <a:ln w="12700">
            <a:solidFill>
              <a:srgbClr val="347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017520"/>
            <a:ext cx="21579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Desa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Pemerintahan Desa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Pelayanan Online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Kependudukan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Warga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Perangkat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01568" y="1783080"/>
            <a:ext cx="2615184" cy="41605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20391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31343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Transparansi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0" y="2862072"/>
            <a:ext cx="2103120" cy="0"/>
          </a:xfrm>
          <a:prstGeom prst="line">
            <a:avLst/>
          </a:prstGeom>
          <a:noFill/>
          <a:ln w="12700">
            <a:solidFill>
              <a:srgbClr val="E2E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3017520"/>
            <a:ext cx="21579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Transparansi Keuangan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Pembangunan Desa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Pengaduan Masyarakat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Center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54496" y="1783080"/>
            <a:ext cx="2615184" cy="41605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0528" y="20391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0528" y="231343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 Desa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10528" y="2862072"/>
            <a:ext cx="2103120" cy="0"/>
          </a:xfrm>
          <a:prstGeom prst="line">
            <a:avLst/>
          </a:prstGeom>
          <a:noFill/>
          <a:ln w="12700">
            <a:solidFill>
              <a:srgbClr val="E2E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3017520"/>
            <a:ext cx="21579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UMKM Desa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BumDes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Pertanian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Peternakan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Perikanan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Bantuan Sosial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Lowongan Kerja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07424" y="1783080"/>
            <a:ext cx="2615184" cy="41605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63456" y="20391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63456" y="231343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Pelengkap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363456" y="2862072"/>
            <a:ext cx="2103120" cy="0"/>
          </a:xfrm>
          <a:prstGeom prst="line">
            <a:avLst/>
          </a:prstGeom>
          <a:noFill/>
          <a:ln w="12700">
            <a:solidFill>
              <a:srgbClr val="E2E8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63456" y="3017520"/>
            <a:ext cx="21579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Kesehatan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 Desa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Interaktif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Desa Bintang Ninggi 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AKSES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peran, batas yang tegas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15184" cy="36576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9968"/>
            <a:ext cx="731520" cy="73152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6" name="Image 0" descr="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227478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Tamu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22960" y="3200400"/>
            <a:ext cx="2066544" cy="347472"/>
          </a:xfrm>
          <a:prstGeom prst="roundRect">
            <a:avLst>
              <a:gd name="adj" fmla="val 21053"/>
            </a:avLst>
          </a:prstGeom>
          <a:solidFill>
            <a:srgbClr val="E7F1E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20040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login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3749040"/>
            <a:ext cx="21122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halaman publik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agregat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surat via QR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01568" y="1737360"/>
            <a:ext cx="2615184" cy="36576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75888" y="2029968"/>
            <a:ext cx="731520" cy="73152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13" name="Image 1" descr="icons/user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398" y="2227478"/>
            <a:ext cx="336499" cy="3364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75888" y="278892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Warga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3675888" y="3200400"/>
            <a:ext cx="2066544" cy="347472"/>
          </a:xfrm>
          <a:prstGeom prst="roundRect">
            <a:avLst>
              <a:gd name="adj" fmla="val 21053"/>
            </a:avLst>
          </a:prstGeom>
          <a:solidFill>
            <a:srgbClr val="E7F1EB"/>
          </a:solidFill>
          <a:ln/>
        </p:spPr>
      </p:sp>
      <p:sp>
        <p:nvSpPr>
          <p:cNvPr id="16" name="Text 12"/>
          <p:cNvSpPr/>
          <p:nvPr/>
        </p:nvSpPr>
        <p:spPr>
          <a:xfrm>
            <a:off x="3675888" y="320040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 + PIN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675888" y="3749040"/>
            <a:ext cx="21122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hak Tamu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Ajukan surat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pribadi sendiri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Pengaduan &amp; cek bantuan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254496" y="1737360"/>
            <a:ext cx="2615184" cy="36576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28816" y="2029968"/>
            <a:ext cx="731520" cy="73152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20" name="Image 2" descr="icons/edi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326" y="2227478"/>
            <a:ext cx="336499" cy="33649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28816" y="278892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</a:t>
            </a:r>
            <a:endParaRPr lang="en-US" sz="1900" dirty="0"/>
          </a:p>
        </p:txBody>
      </p:sp>
      <p:sp>
        <p:nvSpPr>
          <p:cNvPr id="22" name="Shape 17"/>
          <p:cNvSpPr/>
          <p:nvPr/>
        </p:nvSpPr>
        <p:spPr>
          <a:xfrm>
            <a:off x="6528816" y="3200400"/>
            <a:ext cx="2066544" cy="347472"/>
          </a:xfrm>
          <a:prstGeom prst="roundRect">
            <a:avLst>
              <a:gd name="adj" fmla="val 21053"/>
            </a:avLst>
          </a:prstGeom>
          <a:solidFill>
            <a:srgbClr val="E7F1EB"/>
          </a:solidFill>
          <a:ln/>
        </p:spPr>
      </p:sp>
      <p:sp>
        <p:nvSpPr>
          <p:cNvPr id="23" name="Text 18"/>
          <p:cNvSpPr/>
          <p:nvPr/>
        </p:nvSpPr>
        <p:spPr>
          <a:xfrm>
            <a:off x="6528816" y="320040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528816" y="3749040"/>
            <a:ext cx="21122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hak Warga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data penduduk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Setujui / tolak surat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konten &amp; keuangan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9107424" y="1737360"/>
            <a:ext cx="2615184" cy="36576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381744" y="2029968"/>
            <a:ext cx="731520" cy="73152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27" name="Image 3" descr="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9254" y="2227478"/>
            <a:ext cx="336499" cy="33649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81744" y="278892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900" dirty="0"/>
          </a:p>
        </p:txBody>
      </p:sp>
      <p:sp>
        <p:nvSpPr>
          <p:cNvPr id="29" name="Shape 23"/>
          <p:cNvSpPr/>
          <p:nvPr/>
        </p:nvSpPr>
        <p:spPr>
          <a:xfrm>
            <a:off x="9381744" y="3200400"/>
            <a:ext cx="2066544" cy="347472"/>
          </a:xfrm>
          <a:prstGeom prst="roundRect">
            <a:avLst>
              <a:gd name="adj" fmla="val 21053"/>
            </a:avLst>
          </a:prstGeom>
          <a:solidFill>
            <a:srgbClr val="E7F1EB"/>
          </a:solidFill>
          <a:ln/>
        </p:spPr>
      </p:sp>
      <p:sp>
        <p:nvSpPr>
          <p:cNvPr id="30" name="Text 24"/>
          <p:cNvSpPr/>
          <p:nvPr/>
        </p:nvSpPr>
        <p:spPr>
          <a:xfrm>
            <a:off x="9381744" y="320040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penuh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9381744" y="3749040"/>
            <a:ext cx="21122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hak Perangkat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akun perangkat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audit log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E7F1EB"/>
          </a:solidFill>
          <a:ln w="12700">
            <a:solidFill>
              <a:srgbClr val="CFE3D6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868680" y="55778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Prinsipnya:  </a:t>
            </a:r>
            <a:pPr indent="0" marL="0"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menentukan hak akses bukan halamannya, melainkan datanya — agregat untuk semua, data pribadi hanya untuk pemiliknya.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Desa Bintang Ninggi I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5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9184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651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sistem bekerja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3867912"/>
            <a:ext cx="457200" cy="457200"/>
          </a:xfrm>
          <a:prstGeom prst="ellipse">
            <a:avLst/>
          </a:prstGeom>
          <a:solidFill>
            <a:srgbClr val="2E7D5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38404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Aktivasi akun warga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3867912"/>
            <a:ext cx="457200" cy="457200"/>
          </a:xfrm>
          <a:prstGeom prst="ellipse">
            <a:avLst/>
          </a:prstGeom>
          <a:solidFill>
            <a:srgbClr val="2E7D5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38404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Pengajuan surat sampai terbit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645152"/>
            <a:ext cx="457200" cy="457200"/>
          </a:xfrm>
          <a:prstGeom prst="ellipse">
            <a:avLst/>
          </a:prstGeom>
          <a:solidFill>
            <a:srgbClr val="2E7D5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46177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Pengaduan masyarakat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0" y="4645152"/>
            <a:ext cx="457200" cy="457200"/>
          </a:xfrm>
          <a:prstGeom prst="ellipse">
            <a:avLst/>
          </a:prstGeom>
          <a:solidFill>
            <a:srgbClr val="2E7D5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46177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bantuan &amp; perlindungan data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Desa Bintang Ninggi 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1 · FASE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Aktivasi akun warga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BF3E2"/>
          </a:solidFill>
          <a:ln w="12700">
            <a:solidFill>
              <a:srgbClr val="EAD9B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6" name="Image 0" descr="icons/k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748" y="201030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 bukan rahasia.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 tercetak di KTP dan tersebar di banyak formulir — maka akun tidak bisa aktif hanya bermodal NIK. Akun diaktifkan lewat perangkat desa, dan warga membuat PIN miliknya sendiri.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199887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3264408"/>
            <a:ext cx="457200" cy="457200"/>
          </a:xfrm>
          <a:prstGeom prst="ellipse">
            <a:avLst/>
          </a:prstGeom>
          <a:solidFill>
            <a:srgbClr val="2E7D51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3232" y="3840480"/>
            <a:ext cx="16696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mendaftarkan warga dari data penduduk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20086" y="3063240"/>
            <a:ext cx="3291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2821838" y="3063240"/>
            <a:ext cx="199887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04718" y="3264408"/>
            <a:ext cx="457200" cy="457200"/>
          </a:xfrm>
          <a:prstGeom prst="ellipse">
            <a:avLst/>
          </a:prstGeom>
          <a:solidFill>
            <a:srgbClr val="2E7D51"/>
          </a:solidFill>
          <a:ln/>
        </p:spPr>
      </p:sp>
      <p:sp>
        <p:nvSpPr>
          <p:cNvPr id="15" name="Text 12"/>
          <p:cNvSpPr/>
          <p:nvPr/>
        </p:nvSpPr>
        <p:spPr>
          <a:xfrm>
            <a:off x="3004718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986430" y="3840480"/>
            <a:ext cx="16696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terbitkan kode aktivasi (berlaku 7 hari)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93285" y="3063240"/>
            <a:ext cx="3291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095037" y="3063240"/>
            <a:ext cx="199887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277917" y="3264408"/>
            <a:ext cx="457200" cy="457200"/>
          </a:xfrm>
          <a:prstGeom prst="ellipse">
            <a:avLst/>
          </a:prstGeom>
          <a:solidFill>
            <a:srgbClr val="2E7D51"/>
          </a:solidFill>
          <a:ln/>
        </p:spPr>
      </p:sp>
      <p:sp>
        <p:nvSpPr>
          <p:cNvPr id="20" name="Text 17"/>
          <p:cNvSpPr/>
          <p:nvPr/>
        </p:nvSpPr>
        <p:spPr>
          <a:xfrm>
            <a:off x="5277917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59629" y="3840480"/>
            <a:ext cx="16696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Warga isi NIK + kode + PIN baru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066483" y="3063240"/>
            <a:ext cx="3291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7368235" y="3063240"/>
            <a:ext cx="199887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551115" y="3264408"/>
            <a:ext cx="457200" cy="457200"/>
          </a:xfrm>
          <a:prstGeom prst="ellipse">
            <a:avLst/>
          </a:prstGeom>
          <a:solidFill>
            <a:srgbClr val="2E7D51"/>
          </a:solidFill>
          <a:ln/>
        </p:spPr>
      </p:sp>
      <p:sp>
        <p:nvSpPr>
          <p:cNvPr id="25" name="Text 22"/>
          <p:cNvSpPr/>
          <p:nvPr/>
        </p:nvSpPr>
        <p:spPr>
          <a:xfrm>
            <a:off x="7551115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32827" y="3840480"/>
            <a:ext cx="16696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aktif — PIN di-hash (argon2id)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339682" y="3063240"/>
            <a:ext cx="3291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9641434" y="3063240"/>
            <a:ext cx="199887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824314" y="3264408"/>
            <a:ext cx="457200" cy="457200"/>
          </a:xfrm>
          <a:prstGeom prst="ellipse">
            <a:avLst/>
          </a:prstGeom>
          <a:solidFill>
            <a:srgbClr val="2E7D51"/>
          </a:solidFill>
          <a:ln/>
        </p:spPr>
      </p:sp>
      <p:sp>
        <p:nvSpPr>
          <p:cNvPr id="30" name="Text 27"/>
          <p:cNvSpPr/>
          <p:nvPr/>
        </p:nvSpPr>
        <p:spPr>
          <a:xfrm>
            <a:off x="9824314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806026" y="3840480"/>
            <a:ext cx="16696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dengan NIK + PIN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7F1EB"/>
          </a:solidFill>
          <a:ln w="12700">
            <a:solidFill>
              <a:srgbClr val="CFE3D6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22960" y="5394960"/>
            <a:ext cx="502920" cy="50292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34" name="Image 1" descr="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48" y="5530748"/>
            <a:ext cx="231343" cy="231343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463040" y="5257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Pengaman: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15 menit + refresh token · akun terkunci 15 menit setelah 5 kali gagal · reset PIN hanya lewat perangkat desa, bukan email/SMS otomatis.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Desa Bintang Ninggi I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2 · FASE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Pengajuan surat sampai terbit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6" name="Image 0" descr="icons/f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199796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dibuat setelah disetujui.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berkas berkop desa yang beredar tanpa persetujuan perangkat. Setelah disetujui: sistem terbitkan nomor, render PDF, hitung hash, dan tempel QR.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STATUS SURAT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6510">
            <a:solidFill>
              <a:srgbClr val="5B6B82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31546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DIPROSES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246120" y="3154680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E7F1EB"/>
          </a:solidFill>
          <a:ln w="16510">
            <a:solidFill>
              <a:srgbClr val="1C5B3A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46120" y="31546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DISETUJUI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943600" y="3154680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E7F1EB"/>
          </a:solidFill>
          <a:ln w="16510">
            <a:solidFill>
              <a:srgbClr val="1C5B3A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0" y="31546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SIAP_DIAMBIL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052560" y="3154680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7ECEC"/>
          </a:solidFill>
          <a:ln w="16510">
            <a:solidFill>
              <a:srgbClr val="B23A48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052560" y="31546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DITOLAK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2697480" y="315468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394960" y="315468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092440" y="3136392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2606040" y="3813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menyetujui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303520" y="3813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ditandatangani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955280" y="3813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kurang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943600" y="27706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DITOLAK → warga perbaiki &amp; ajukan ulang → kembali ke DIPROSES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457200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04672" y="4846320"/>
            <a:ext cx="548640" cy="548640"/>
          </a:xfrm>
          <a:prstGeom prst="ellipse">
            <a:avLst/>
          </a:prstGeom>
          <a:solidFill>
            <a:srgbClr val="E7F1EB"/>
          </a:solidFill>
          <a:ln/>
        </p:spPr>
      </p:sp>
      <p:pic>
        <p:nvPicPr>
          <p:cNvPr id="26" name="Image 1" descr="icons/fil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5" y="4994453"/>
            <a:ext cx="252374" cy="25237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508760" y="4828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jenis surat</a:t>
            </a:r>
            <a:endParaRPr lang="en-US" sz="1450" dirty="0"/>
          </a:p>
        </p:txBody>
      </p:sp>
      <p:sp>
        <p:nvSpPr>
          <p:cNvPr id="28" name="Text 24"/>
          <p:cNvSpPr/>
          <p:nvPr/>
        </p:nvSpPr>
        <p:spPr>
          <a:xfrm>
            <a:off x="1508760" y="5148072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Domisili, tidak mampu, usaha, kelahiran, dan lainnya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398264" y="457200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654296" y="4846320"/>
            <a:ext cx="548640" cy="548640"/>
          </a:xfrm>
          <a:prstGeom prst="ellipse">
            <a:avLst/>
          </a:prstGeom>
          <a:solidFill>
            <a:srgbClr val="E7F1EB"/>
          </a:solidFill>
          <a:ln/>
        </p:spPr>
      </p:sp>
      <p:pic>
        <p:nvPicPr>
          <p:cNvPr id="31" name="Image 2" descr="icons/qr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429" y="4994453"/>
            <a:ext cx="252374" cy="25237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358384" y="4828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QR</a:t>
            </a:r>
            <a:endParaRPr lang="en-US" sz="1450" dirty="0"/>
          </a:p>
        </p:txBody>
      </p:sp>
      <p:sp>
        <p:nvSpPr>
          <p:cNvPr id="33" name="Text 28"/>
          <p:cNvSpPr/>
          <p:nvPr/>
        </p:nvSpPr>
        <p:spPr>
          <a:xfrm>
            <a:off x="5358384" y="5148072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publik cek keaslian tanpa data pribadi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8247888" y="457200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8503920" y="4846320"/>
            <a:ext cx="548640" cy="548640"/>
          </a:xfrm>
          <a:prstGeom prst="ellipse">
            <a:avLst/>
          </a:prstGeom>
          <a:solidFill>
            <a:srgbClr val="E7F1EB"/>
          </a:solidFill>
          <a:ln/>
        </p:spPr>
      </p:sp>
      <p:pic>
        <p:nvPicPr>
          <p:cNvPr id="36" name="Image 3" descr="icons/edit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053" y="4994453"/>
            <a:ext cx="252374" cy="25237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208008" y="4828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 tolak wajib</a:t>
            </a:r>
            <a:endParaRPr lang="en-US" sz="1450" dirty="0"/>
          </a:p>
        </p:txBody>
      </p:sp>
      <p:sp>
        <p:nvSpPr>
          <p:cNvPr id="38" name="Text 32"/>
          <p:cNvSpPr/>
          <p:nvPr/>
        </p:nvSpPr>
        <p:spPr>
          <a:xfrm>
            <a:off x="9208008" y="5148072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Warga selalu tahu apa yang harus diperbaiki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Desa Bintang Ninggi I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KEASLIAN DOKUMEN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surat lewat QR Code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114800" cy="4114800"/>
          </a:xfrm>
          <a:prstGeom prst="roundRect">
            <a:avLst>
              <a:gd name="adj" fmla="val 2000"/>
            </a:avLst>
          </a:prstGeom>
          <a:solidFill>
            <a:srgbClr val="18543A"/>
          </a:solidFill>
          <a:ln w="12700">
            <a:solidFill>
              <a:srgbClr val="18543A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pic>
        <p:nvPicPr>
          <p:cNvPr id="5" name="Image 0" descr="icons/q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468880"/>
            <a:ext cx="210312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892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/verifikasi/{kode}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5257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publik · tanpa login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37760" y="18745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surat cetak memuat QR menuju halaman verifikasi publik. Yang ditampilkan hanya: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937760" y="2788920"/>
            <a:ext cx="548640" cy="548640"/>
          </a:xfrm>
          <a:prstGeom prst="ellipse">
            <a:avLst/>
          </a:prstGeom>
          <a:solidFill>
            <a:srgbClr val="E7F1EB"/>
          </a:solidFill>
          <a:ln/>
        </p:spPr>
      </p:sp>
      <p:pic>
        <p:nvPicPr>
          <p:cNvPr id="10" name="Image 1" descr="icons/fil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893" y="293705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27889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&amp; jenis surat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937760" y="3538728"/>
            <a:ext cx="548640" cy="548640"/>
          </a:xfrm>
          <a:prstGeom prst="ellipse">
            <a:avLst/>
          </a:prstGeom>
          <a:solidFill>
            <a:srgbClr val="E7F1EB"/>
          </a:solidFill>
          <a:ln/>
        </p:spPr>
      </p:sp>
      <p:pic>
        <p:nvPicPr>
          <p:cNvPr id="13" name="Image 2" descr="icons/clo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893" y="3686861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69280" y="35387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terbit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937760" y="4288536"/>
            <a:ext cx="548640" cy="548640"/>
          </a:xfrm>
          <a:prstGeom prst="ellipse">
            <a:avLst/>
          </a:prstGeom>
          <a:solidFill>
            <a:srgbClr val="E7F1EB"/>
          </a:solidFill>
          <a:ln/>
        </p:spPr>
      </p:sp>
      <p:pic>
        <p:nvPicPr>
          <p:cNvPr id="16" name="Image 3" descr="icons/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893" y="4436669"/>
            <a:ext cx="252374" cy="25237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69280" y="428853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keaslian dokumen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937760" y="5038344"/>
            <a:ext cx="548640" cy="548640"/>
          </a:xfrm>
          <a:prstGeom prst="ellipse">
            <a:avLst/>
          </a:prstGeom>
          <a:solidFill>
            <a:srgbClr val="E7F1EB"/>
          </a:solidFill>
          <a:ln/>
        </p:spPr>
      </p:sp>
      <p:pic>
        <p:nvPicPr>
          <p:cNvPr id="19" name="Image 4" descr="icons/shield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5893" y="5186477"/>
            <a:ext cx="252374" cy="25237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669280" y="503834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data pribadi pemohon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Desa Bintang Ninggi I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3 · FASE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Pengaduan masyarakat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9887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84248"/>
            <a:ext cx="457200" cy="457200"/>
          </a:xfrm>
          <a:prstGeom prst="ellipse">
            <a:avLst/>
          </a:prstGeom>
          <a:solidFill>
            <a:srgbClr val="2E7D5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532888"/>
            <a:ext cx="16696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lalu pilih salah satu dari 8 kategori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20086" y="1783080"/>
            <a:ext cx="3291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21838" y="1783080"/>
            <a:ext cx="199887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04718" y="1984248"/>
            <a:ext cx="457200" cy="457200"/>
          </a:xfrm>
          <a:prstGeom prst="ellipse">
            <a:avLst/>
          </a:prstGeom>
          <a:solidFill>
            <a:srgbClr val="2E7D51"/>
          </a:solidFill>
          <a:ln/>
        </p:spPr>
      </p:sp>
      <p:sp>
        <p:nvSpPr>
          <p:cNvPr id="11" name="Text 9"/>
          <p:cNvSpPr/>
          <p:nvPr/>
        </p:nvSpPr>
        <p:spPr>
          <a:xfrm>
            <a:off x="300471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86430" y="2532888"/>
            <a:ext cx="16696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judul &amp; deskripsi, unggah foto (maks. 5)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93285" y="1783080"/>
            <a:ext cx="3291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95037" y="1783080"/>
            <a:ext cx="199887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77917" y="1984248"/>
            <a:ext cx="457200" cy="457200"/>
          </a:xfrm>
          <a:prstGeom prst="ellipse">
            <a:avLst/>
          </a:prstGeom>
          <a:solidFill>
            <a:srgbClr val="2E7D51"/>
          </a:solidFill>
          <a:ln/>
        </p:spPr>
      </p:sp>
      <p:sp>
        <p:nvSpPr>
          <p:cNvPr id="16" name="Text 14"/>
          <p:cNvSpPr/>
          <p:nvPr/>
        </p:nvSpPr>
        <p:spPr>
          <a:xfrm>
            <a:off x="5277917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9629" y="2532888"/>
            <a:ext cx="16696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Izinkan GPS otomatis atau isi lokasi manual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66483" y="1783080"/>
            <a:ext cx="3291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368235" y="1783080"/>
            <a:ext cx="199887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51115" y="1984248"/>
            <a:ext cx="457200" cy="457200"/>
          </a:xfrm>
          <a:prstGeom prst="ellipse">
            <a:avLst/>
          </a:prstGeom>
          <a:solidFill>
            <a:srgbClr val="2E7D51"/>
          </a:solidFill>
          <a:ln/>
        </p:spPr>
      </p:sp>
      <p:sp>
        <p:nvSpPr>
          <p:cNvPr id="21" name="Text 19"/>
          <p:cNvSpPr/>
          <p:nvPr/>
        </p:nvSpPr>
        <p:spPr>
          <a:xfrm>
            <a:off x="7551115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32827" y="2532888"/>
            <a:ext cx="16696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— status BARU, perangkat verifikasi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339682" y="1783080"/>
            <a:ext cx="3291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641434" y="1783080"/>
            <a:ext cx="199887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24314" y="1984248"/>
            <a:ext cx="457200" cy="457200"/>
          </a:xfrm>
          <a:prstGeom prst="ellipse">
            <a:avLst/>
          </a:prstGeom>
          <a:solidFill>
            <a:srgbClr val="2E7D51"/>
          </a:solidFill>
          <a:ln/>
        </p:spPr>
      </p:sp>
      <p:sp>
        <p:nvSpPr>
          <p:cNvPr id="26" name="Text 24"/>
          <p:cNvSpPr/>
          <p:nvPr/>
        </p:nvSpPr>
        <p:spPr>
          <a:xfrm>
            <a:off x="9824314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06026" y="2532888"/>
            <a:ext cx="16696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Ditangani → Selesai (foto hasil) / Ditolak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KATEGORI LAPORAN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206240"/>
            <a:ext cx="2606040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2062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 rusak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37560" y="4206240"/>
            <a:ext cx="2606040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42062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Lampu mati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4206240"/>
            <a:ext cx="2606040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42062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915400" y="4206240"/>
            <a:ext cx="2606040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2560" y="42062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Banjir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709160"/>
            <a:ext cx="2606040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7091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Pelayanan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37560" y="4709160"/>
            <a:ext cx="2606040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47091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 sosial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26480" y="4709160"/>
            <a:ext cx="2606040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47091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Kebakaran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915400" y="4709160"/>
            <a:ext cx="2606040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52560" y="47091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539496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E7F1EB"/>
          </a:solidFill>
          <a:ln w="12700">
            <a:solidFill>
              <a:srgbClr val="CFE3D6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22960" y="5522976"/>
            <a:ext cx="411480" cy="41148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47" name="Image 0" descr="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5634076"/>
            <a:ext cx="189281" cy="189281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371600" y="53949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 di publik, tercatat di internal.  </a:t>
            </a:r>
            <a:pPr indent="0" marL="0">
              <a:buNone/>
            </a:pPr>
            <a:r>
              <a:rPr lang="en-US" sz="13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boleh tampil anonim, tetapi identitas pelapor tetap tersimpan dan terlihat perangkat desa — mencegah laporan palsu.</a:t>
            </a:r>
            <a:endParaRPr lang="en-US" sz="1350" dirty="0"/>
          </a:p>
        </p:txBody>
      </p:sp>
      <p:sp>
        <p:nvSpPr>
          <p:cNvPr id="49" name="Text 46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Desa Bintang Ninggi I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4 · FASE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bantuan sosial tanpa membocorkan data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3383280"/>
          </a:xfrm>
          <a:prstGeom prst="roundRect">
            <a:avLst>
              <a:gd name="adj" fmla="val 2432"/>
            </a:avLst>
          </a:prstGeom>
          <a:solidFill>
            <a:srgbClr val="F7ECEC"/>
          </a:solidFill>
          <a:ln w="12700">
            <a:solidFill>
              <a:srgbClr val="E7C9C9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21408"/>
            <a:ext cx="640080" cy="64008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6" name="Image 0" descr="icons/x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2294230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48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2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lama — dibatalkan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penerima dicek dengan NIK yang diketik di form publik.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7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Risikonya: endpoint publik ber-NIK bisa dipakai menyisir NIK satu per satu untuk memetakan siapa saja penerima bantuan di desa — informasi yang sensitif secara sosial dan bisa memicu kecemburuan.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99632" y="1828800"/>
            <a:ext cx="5440680" cy="3383280"/>
          </a:xfrm>
          <a:prstGeom prst="roundRect">
            <a:avLst>
              <a:gd name="adj" fmla="val 2432"/>
            </a:avLst>
          </a:prstGeom>
          <a:solidFill>
            <a:srgbClr val="E7F1EB"/>
          </a:solidFill>
          <a:ln w="12700">
            <a:solidFill>
              <a:srgbClr val="BFE0CE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21408"/>
            <a:ext cx="640080" cy="64008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11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494" y="2294230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2148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aman — dipakai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65392" y="301752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Warga login (NIK + PIN), lalu status diambil dari sesi — bukan dari NIK yang diketik.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F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endpoint publik yang menerima NIK sebagai input. Status hanya terbuka untuk pemilik akun, sehingga tidak ada cara memetakan penerima bantuan orang lain.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5440680"/>
            <a:ext cx="11091672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68680" y="54406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yang sama berlaku di seluruh sistem:  </a:t>
            </a:r>
            <a:pPr indent="0" marL="0">
              <a:buNone/>
            </a:pPr>
            <a:r>
              <a:rPr lang="en-US" sz="1350" b="1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endpoint publik yang menerima NIK.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Desa Bintang Ninggi 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PERLINDUNGAN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agregat untuk publik, individu di balik audit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21408"/>
            <a:ext cx="685800" cy="68580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6" name="Image 0" descr="icons/pi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846" y="2306574"/>
            <a:ext cx="315468" cy="315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94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publik: agregat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Data Kependudukan hanya menampilkan angka: jumlah penduduk, KK, usia, pendidikan, dan seterusnya.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pernah bisa dipakai menelusuri satu individu.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99632" y="182880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21408"/>
            <a:ext cx="685800" cy="68580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11" name="Image 1" descr="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838" y="2306574"/>
            <a:ext cx="315468" cy="3154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88352" y="21945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perangkat: individu + audit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65392" y="306324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individu hanya di Dashboard Perangkat. Setiap membuka maupun mengubah data penduduk tercatat otomatis: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· kapan · dari IP mana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Kewajiban UU PDP No. 27/2022 — sekaligus pelindung perangkat bila muncul tuduhan penyalahgunaan.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5440680"/>
            <a:ext cx="11091672" cy="621792"/>
          </a:xfrm>
          <a:prstGeom prst="roundRect">
            <a:avLst>
              <a:gd name="adj" fmla="val 13235"/>
            </a:avLst>
          </a:prstGeom>
          <a:solidFill>
            <a:srgbClr val="E7F1EB"/>
          </a:solidFill>
          <a:ln w="12700">
            <a:solidFill>
              <a:srgbClr val="CFE3D6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68680" y="54406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penting:  </a:t>
            </a:r>
            <a:pPr indent="0" marL="0">
              <a:buNone/>
            </a:pPr>
            <a:r>
              <a:rPr lang="en-US" sz="13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mencatat pembacaan, bukan hanya perubahan — sekadar membuka detail warga pun tercatat.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Desa Bintang Ninggi 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yang tidak boleh dilanggar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03120"/>
            <a:ext cx="594360" cy="59436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6" name="Image 0" descr="icons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149" y="2263597"/>
            <a:ext cx="273406" cy="273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 &amp; KK dienkripsi at rest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3317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AES-256-GCM, pencarian lewat kolom HMAC — dump database tidak langsung membocorkan identitas warga.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5664" y="2103120"/>
            <a:ext cx="594360" cy="59436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11" name="Image 1" descr="icons/pi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41" y="2263597"/>
            <a:ext cx="273406" cy="2734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9659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publik selalu agregat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05472" y="23317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publik tidak boleh bisa dipakai menelusuri individu.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520440"/>
            <a:ext cx="594360" cy="59436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16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49" y="3680917"/>
            <a:ext cx="273406" cy="2734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3832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endpoint publik ber-NIK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374904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Mencegah penyisiran NIK untuk memetakan warga.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99632" y="32004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55664" y="3520440"/>
            <a:ext cx="594360" cy="59436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21" name="Image 3" descr="icons/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41" y="3680917"/>
            <a:ext cx="273406" cy="2734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05472" y="33832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15 menit + rate limit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05472" y="374904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pendek untuk perangkat bersama; login dibatasi ketat dari percobaan massal.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61772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937760"/>
            <a:ext cx="594360" cy="59436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26" name="Image 4" descr="icons/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49" y="5098237"/>
            <a:ext cx="273406" cy="2734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48006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akses penduduk diaudit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54480" y="51663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Siapa, kapan, dari IP mana — kewajiban UU PDP No. 27/2022.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199632" y="461772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55664" y="4937760"/>
            <a:ext cx="594360" cy="59436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31" name="Image 5" descr="icons/edi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6141" y="5098237"/>
            <a:ext cx="273406" cy="2734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05472" y="48006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 penolakan surat wajib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205472" y="51663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Warga berhak tahu persis apa yang harus diperbaiki.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Desa Bintang Ninggi I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lapis, satu pintu ke data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658368" cy="658368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6" name="Image 0" descr="icons/monit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719" y="2372319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523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section publik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Warga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Perangkat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397764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E7F1E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977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Diakses dari HP &amp; desktop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913632" y="1920240"/>
            <a:ext cx="5029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398264" y="1920240"/>
            <a:ext cx="338328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72584" y="2194560"/>
            <a:ext cx="658368" cy="658368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15" name="Image 1" descr="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343" y="2372319"/>
            <a:ext cx="302849" cy="3028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49824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449824" y="2523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672584" y="30632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(JWT + refresh)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surat, pengaduan, keuangan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PDF + QR · Audit log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672584" y="397764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E7F1EB"/>
          </a:solidFill>
          <a:ln/>
        </p:spPr>
      </p:sp>
      <p:sp>
        <p:nvSpPr>
          <p:cNvPr id="20" name="Text 16"/>
          <p:cNvSpPr/>
          <p:nvPr/>
        </p:nvSpPr>
        <p:spPr>
          <a:xfrm>
            <a:off x="4672584" y="3977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Satu-satunya pintu ke data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763256" y="1920240"/>
            <a:ext cx="5029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8247888" y="1920240"/>
            <a:ext cx="338328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522208" y="2194560"/>
            <a:ext cx="658368" cy="658368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24" name="Image 2" descr="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967" y="2372319"/>
            <a:ext cx="302849" cy="30284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299448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Penyimpanan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9299448" y="2523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Prisma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522208" y="30632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terenkripsi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unggahan (foto, lampiran)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522208" y="397764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E7F1EB"/>
          </a:solidFill>
          <a:ln/>
        </p:spPr>
      </p:sp>
      <p:sp>
        <p:nvSpPr>
          <p:cNvPr id="29" name="Text 24"/>
          <p:cNvSpPr/>
          <p:nvPr/>
        </p:nvSpPr>
        <p:spPr>
          <a:xfrm>
            <a:off x="8522208" y="3977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kebenaran data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48640" y="48006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22960" y="5029200"/>
            <a:ext cx="548640" cy="548640"/>
          </a:xfrm>
          <a:prstGeom prst="ellipse">
            <a:avLst/>
          </a:prstGeom>
          <a:solidFill>
            <a:srgbClr val="E7F1EB"/>
          </a:solidFill>
          <a:ln/>
        </p:spPr>
      </p:sp>
      <p:pic>
        <p:nvPicPr>
          <p:cNvPr id="32" name="Image 3" descr="icons/globe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5177333"/>
            <a:ext cx="252374" cy="25237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508760" y="49560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luar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1508760" y="528523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BMKG (cuaca) · OpenStreetMap (peta) · QRIS (pembayaran)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6199632" y="48006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6473952" y="5029200"/>
            <a:ext cx="548640" cy="548640"/>
          </a:xfrm>
          <a:prstGeom prst="ellipse">
            <a:avLst/>
          </a:prstGeom>
          <a:solidFill>
            <a:srgbClr val="E7F1EB"/>
          </a:solidFill>
          <a:ln/>
        </p:spPr>
      </p:sp>
      <p:pic>
        <p:nvPicPr>
          <p:cNvPr id="37" name="Image 4" descr="icons/layers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085" y="5177333"/>
            <a:ext cx="252374" cy="25237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159752" y="49560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shared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7159752" y="528523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registry section + skema validasi dipakai frontend &amp; backend — aturan data tidak pernah beda di dua sisi.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Desa Bintang Ninggi I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JALAN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berjalan — bukan sekadar gambar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6858000" cy="3756660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pic>
        <p:nvPicPr>
          <p:cNvPr id="5" name="Image 0" descr="img/beranda_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766560" cy="36652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6766560" cy="3665220"/>
          </a:xfrm>
          <a:prstGeom prst="roundRect">
            <a:avLst>
              <a:gd name="adj" fmla="val 499"/>
            </a:avLst>
          </a:prstGeom>
          <a:ln w="12700">
            <a:solidFill>
              <a:srgbClr val="D6DF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5580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Beranda · tampilan desktop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80376" y="1545336"/>
            <a:ext cx="2350008" cy="4360516"/>
          </a:xfrm>
          <a:prstGeom prst="roundRect">
            <a:avLst>
              <a:gd name="adj" fmla="val 46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pic>
        <p:nvPicPr>
          <p:cNvPr id="9" name="Image 1" descr="img/beranda_h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600200"/>
            <a:ext cx="2240280" cy="42507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635240" y="1600200"/>
            <a:ext cx="2240280" cy="4250788"/>
          </a:xfrm>
          <a:prstGeom prst="roundRect">
            <a:avLst>
              <a:gd name="adj" fmla="val 4082"/>
            </a:avLst>
          </a:prstGeom>
          <a:ln w="12700">
            <a:solidFill>
              <a:srgbClr val="D6DFD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35240" y="59424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HP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10104120" y="1783080"/>
            <a:ext cx="1536192" cy="38404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0104120" y="1783080"/>
            <a:ext cx="1536192" cy="3840480"/>
          </a:xfrm>
          <a:prstGeom prst="roundRect">
            <a:avLst>
              <a:gd name="adj" fmla="val 5357"/>
            </a:avLst>
          </a:prstGeom>
          <a:solidFill>
            <a:srgbClr val="E7F1EB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241280" y="1965960"/>
            <a:ext cx="1280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Diambil dari aplikasi React yang berjalan di localhost:5173.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0241280" y="3520440"/>
            <a:ext cx="1280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yang belum digarap tampil sebagai kerangka berisi rencana isinya — disengaja, agar struktur bisa didiskusikan dulu.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Desa Bintang Ninggi 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PIHAK DESA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masih perlu dikonfirmasi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6" name="Image 0" descr="icons/shopp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06837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1109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QRIS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846320" y="191109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merchant dipegang BumDes atau tiap UMKM? Fase awal: checkout via WhatsApp dulu.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06624"/>
            <a:ext cx="11091672" cy="822960"/>
          </a:xfrm>
          <a:prstGeom prst="roundRect">
            <a:avLst>
              <a:gd name="adj" fmla="val 10000"/>
            </a:avLst>
          </a:prstGeom>
          <a:solidFill>
            <a:srgbClr val="FBFCFB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843784"/>
            <a:ext cx="548640" cy="54864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1" name="Image 1" descr="icons/edi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3" y="2991917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834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tangan elektronik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46320" y="28346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ke PSrE tersertifikasi (BSrE/Peruri), atau cukup QR + tanda tangan basah untuk sementara?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630168"/>
            <a:ext cx="110916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767328"/>
            <a:ext cx="548640" cy="54864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6" name="Image 2" descr="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3915461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7581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 penduduk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846320" y="375818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 manual, atau impor dari Prodeskel/Dukcapil?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553712"/>
            <a:ext cx="11091672" cy="822960"/>
          </a:xfrm>
          <a:prstGeom prst="roundRect">
            <a:avLst>
              <a:gd name="adj" fmla="val 10000"/>
            </a:avLst>
          </a:prstGeom>
          <a:solidFill>
            <a:srgbClr val="FBFCFB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690872"/>
            <a:ext cx="548640" cy="54864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21" name="Image 3" descr="icons/fi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4839005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6817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nomor surat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846320" y="468172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disamakan dengan buku agenda surat yang dipakai sekarang.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5477256"/>
            <a:ext cx="110916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81D">
                <a:alpha val="11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5614416"/>
            <a:ext cx="548640" cy="54864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26" name="Image 4" descr="icons/camera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5762549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6052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awal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846320" y="560527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Sejarah desa, visi-misi, foto perangkat, dan sambutan kepala desa perlu disiapkan sebelum peluncuran.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Desa Bintang Ninggi I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85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6217920" cy="621792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BERIKUTNYA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Fase 1.</a:t>
            </a:r>
            <a:endParaRPr lang="en-US" sz="4200" dirty="0"/>
          </a:p>
        </p:txBody>
      </p:sp>
      <p:pic>
        <p:nvPicPr>
          <p:cNvPr id="5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90779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Desa</a:t>
            </a:r>
            <a:endParaRPr lang="en-US" sz="1500" dirty="0"/>
          </a:p>
        </p:txBody>
      </p:sp>
      <p:pic>
        <p:nvPicPr>
          <p:cNvPr id="7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907792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0060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Pemerintahan Desa</a:t>
            </a:r>
            <a:endParaRPr lang="en-US" sz="1500" dirty="0"/>
          </a:p>
        </p:txBody>
      </p:sp>
      <p:pic>
        <p:nvPicPr>
          <p:cNvPr id="9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907792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6676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Pelayanan Online</a:t>
            </a:r>
            <a:endParaRPr lang="en-US" sz="1500" dirty="0"/>
          </a:p>
        </p:txBody>
      </p:sp>
      <p:pic>
        <p:nvPicPr>
          <p:cNvPr id="11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7472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447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Kependudukan</a:t>
            </a:r>
            <a:endParaRPr lang="en-US" sz="1500" dirty="0"/>
          </a:p>
        </p:txBody>
      </p:sp>
      <p:pic>
        <p:nvPicPr>
          <p:cNvPr id="13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3474720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800600" y="3447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Warga</a:t>
            </a:r>
            <a:endParaRPr lang="en-US" sz="1500" dirty="0"/>
          </a:p>
        </p:txBody>
      </p:sp>
      <p:pic>
        <p:nvPicPr>
          <p:cNvPr id="15" name="Image 5" descr="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3474720"/>
            <a:ext cx="292608" cy="2926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366760" y="3447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Perangkat</a:t>
            </a:r>
            <a:endParaRPr lang="en-US" sz="1500" dirty="0"/>
          </a:p>
        </p:txBody>
      </p:sp>
      <p:sp>
        <p:nvSpPr>
          <p:cNvPr id="17" name="Shape 9"/>
          <p:cNvSpPr/>
          <p:nvPr/>
        </p:nvSpPr>
        <p:spPr>
          <a:xfrm>
            <a:off x="822960" y="448056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0"/>
          <p:cNvSpPr/>
          <p:nvPr/>
        </p:nvSpPr>
        <p:spPr>
          <a:xfrm>
            <a:off x="1097280" y="4663440"/>
            <a:ext cx="502920" cy="502920"/>
          </a:xfrm>
          <a:prstGeom prst="ellipse">
            <a:avLst/>
          </a:prstGeom>
          <a:solidFill>
            <a:srgbClr val="2E7D51"/>
          </a:solidFill>
          <a:ln/>
        </p:spPr>
      </p:sp>
      <p:pic>
        <p:nvPicPr>
          <p:cNvPr id="19" name="Image 6" descr="icons/layer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068" y="4799228"/>
            <a:ext cx="231343" cy="23134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783080" y="44805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cukup diubah di satu file registry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rute aplikasi, menu navigasi, dan dokumen ini ikut menyesuaikan.</a:t>
            </a:r>
            <a:endParaRPr lang="en-US" sz="1400" dirty="0"/>
          </a:p>
        </p:txBody>
      </p:sp>
      <p:sp>
        <p:nvSpPr>
          <p:cNvPr id="21" name="Text 12"/>
          <p:cNvSpPr/>
          <p:nvPr/>
        </p:nvSpPr>
        <p:spPr>
          <a:xfrm>
            <a:off x="822960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200" dirty="0"/>
          </a:p>
        </p:txBody>
      </p:sp>
      <p:sp>
        <p:nvSpPr>
          <p:cNvPr id="22" name="Text 13"/>
          <p:cNvSpPr/>
          <p:nvPr/>
        </p:nvSpPr>
        <p:spPr>
          <a:xfrm>
            <a:off x="82296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Desa Bintang Ninggi I · Kecamatan Teweh Selatan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2026-08-05T20:26:38Z</dcterms:created>
  <dcterms:modified xsi:type="dcterms:W3CDTF">2026-08-05T20:26:38Z</dcterms:modified>
</cp:coreProperties>
</file>